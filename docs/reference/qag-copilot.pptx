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Metadata/LabelInfo.xml" ContentType="application/vnd.ms-office.classificationlabel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87" r:id="rId3"/>
    <p:sldId id="290" r:id="rId4"/>
    <p:sldId id="291" r:id="rId5"/>
    <p:sldId id="258" r:id="rId6"/>
    <p:sldId id="292" r:id="rId7"/>
    <p:sldId id="274" r:id="rId8"/>
    <p:sldId id="302" r:id="rId9"/>
    <p:sldId id="303" r:id="rId10"/>
    <p:sldId id="304" r:id="rId11"/>
    <p:sldId id="288" r:id="rId12"/>
    <p:sldId id="259" r:id="rId13"/>
    <p:sldId id="286" r:id="rId14"/>
    <p:sldId id="300" r:id="rId15"/>
    <p:sldId id="289" r:id="rId16"/>
    <p:sldId id="267" r:id="rId17"/>
    <p:sldId id="281" r:id="rId18"/>
    <p:sldId id="282" r:id="rId19"/>
    <p:sldId id="299" r:id="rId20"/>
    <p:sldId id="295" r:id="rId21"/>
    <p:sldId id="296" r:id="rId22"/>
    <p:sldId id="297" r:id="rId23"/>
    <p:sldId id="275" r:id="rId24"/>
    <p:sldId id="298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1CDA62-252A-478D-A86F-700F3D4BF22B}" v="381" dt="2026-03-04T19:00:56.688"/>
    <p1510:client id="{0F7AFB85-1C48-452D-8128-A5F8346B0B13}" v="84" dt="2026-03-04T19:21:40.102"/>
    <p1510:client id="{15CF5018-63B6-42B3-AAF1-AE3354F4F2BA}" v="12" dt="2026-03-06T02:57:19.538"/>
    <p1510:client id="{21BC0C73-4600-4F9C-9AE6-871AB22E791F}" v="356" dt="2026-03-06T13:57:44.957"/>
    <p1510:client id="{3091F759-0D09-4CDF-A466-A7F7409ADB72}" v="1" dt="2026-03-04T23:29:29.719"/>
    <p1510:client id="{5838F196-FE18-44A0-A805-F71F0C7ECCE1}" v="1282" dt="2026-03-05T01:27:28.376"/>
    <p1510:client id="{ABE33B8A-B564-48B5-A4F3-8A7B4D9BE2DA}" v="79" dt="2026-03-04T15:52:48.580"/>
    <p1510:client id="{B332AD38-2EF1-4101-A333-13DD897E44F4}" v="41" dt="2026-03-05T23:44:55.115"/>
    <p1510:client id="{C03D5347-E16D-4532-8306-B95883508027}" v="17" dt="2026-03-04T18:13:21.646"/>
    <p1510:client id="{E31A848A-C470-43B1-9504-E8610FF26347}" v="78" dt="2026-03-05T17:40:55.501"/>
  </p1510:revLst>
</p1510:revInfo>
</file>

<file path=ppt/tableStyles.xml><?xml version="1.0" encoding="utf-8"?>
<a:tblStyleLst xmlns:a="http://schemas.openxmlformats.org/drawingml/2006/main" def="{CBA92325-0DAB-4875-B583-15933473FC30}">
  <a:tblStyle styleId="{CBA92325-0DAB-4875-B583-15933473FC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648" y="1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9c46714aa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9c46714aa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c46714aa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c46714aa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B7CA0E1-0384-A4A2-C9A0-764B980A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c46714aa_0_101:notes">
            <a:extLst>
              <a:ext uri="{FF2B5EF4-FFF2-40B4-BE49-F238E27FC236}">
                <a16:creationId xmlns:a16="http://schemas.microsoft.com/office/drawing/2014/main" id="{9C1F7B2E-292F-55E6-70C8-BD175ECF0F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c46714aa_0_101:notes">
            <a:extLst>
              <a:ext uri="{FF2B5EF4-FFF2-40B4-BE49-F238E27FC236}">
                <a16:creationId xmlns:a16="http://schemas.microsoft.com/office/drawing/2014/main" id="{95E57B69-257F-4725-6512-6326BC11B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4190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9c46714aa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3b9c46714aa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9c46714aa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9c46714aa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1BC81E79-1CE6-BAE6-E5FE-2CE514C4D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9c46714aa_0_206:notes">
            <a:extLst>
              <a:ext uri="{FF2B5EF4-FFF2-40B4-BE49-F238E27FC236}">
                <a16:creationId xmlns:a16="http://schemas.microsoft.com/office/drawing/2014/main" id="{C8836F88-E4D4-91C9-F0F1-80739C9D3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9c46714aa_0_206:notes">
            <a:extLst>
              <a:ext uri="{FF2B5EF4-FFF2-40B4-BE49-F238E27FC236}">
                <a16:creationId xmlns:a16="http://schemas.microsoft.com/office/drawing/2014/main" id="{D68A1D8A-2E21-810F-7DA0-CEA22EDB5D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6861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422678B8-F5E6-8F86-14AD-FA7EF720D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9c46714aa_0_206:notes">
            <a:extLst>
              <a:ext uri="{FF2B5EF4-FFF2-40B4-BE49-F238E27FC236}">
                <a16:creationId xmlns:a16="http://schemas.microsoft.com/office/drawing/2014/main" id="{4513A7B6-DE83-E0F7-2516-27888414E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9c46714aa_0_206:notes">
            <a:extLst>
              <a:ext uri="{FF2B5EF4-FFF2-40B4-BE49-F238E27FC236}">
                <a16:creationId xmlns:a16="http://schemas.microsoft.com/office/drawing/2014/main" id="{72A06826-7BFB-5E10-DD0E-BFEC91BB63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927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0E28D330-7492-4D72-0601-27431BEF2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9c46714aa_0_216:notes">
            <a:extLst>
              <a:ext uri="{FF2B5EF4-FFF2-40B4-BE49-F238E27FC236}">
                <a16:creationId xmlns:a16="http://schemas.microsoft.com/office/drawing/2014/main" id="{A83A119D-7DF8-7F6A-0273-5FCCCBCCF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9c46714aa_0_216:notes">
            <a:extLst>
              <a:ext uri="{FF2B5EF4-FFF2-40B4-BE49-F238E27FC236}">
                <a16:creationId xmlns:a16="http://schemas.microsoft.com/office/drawing/2014/main" id="{893D31AC-2F76-53C5-C5B2-6FA9A0DF47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48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1E22"/>
              </a:buClr>
              <a:buSzPts val="3300"/>
              <a:buFont typeface="Twentieth Century"/>
              <a:buNone/>
              <a:defRPr>
                <a:solidFill>
                  <a:srgbClr val="751E2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457950" y="4850117"/>
            <a:ext cx="25890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7585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7585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7585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7585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7585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7585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7585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7585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7585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7272" y="4657308"/>
            <a:ext cx="3579016" cy="385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orxiv.org/content/10.1101/2025.09.02.673797v1.full.pdf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qag.m3aicommons.org" TargetMode="Externa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" sz="3200" b="1" dirty="0">
                <a:solidFill>
                  <a:srgbClr val="751E2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tools that operate over the </a:t>
            </a:r>
            <a:br>
              <a:rPr lang="en" sz="3200" b="1" dirty="0">
                <a:solidFill>
                  <a:srgbClr val="751E2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en" sz="3200" b="1" dirty="0">
                <a:solidFill>
                  <a:srgbClr val="751E2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Genomic Data Commons</a:t>
            </a:r>
            <a:endParaRPr lang="en-US" sz="3200" b="1" dirty="0">
              <a:solidFill>
                <a:schemeClr val="lt1"/>
              </a:solidFill>
              <a:latin typeface="Twentieth Century"/>
              <a:ea typeface="Twentieth Century"/>
              <a:cs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B76FE-456C-9C12-59B3-A01F739A7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 algn="l">
              <a:buAutoNum type="arabicPeriod"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1681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80DB8-9485-D695-3B7C-24942453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7726-EEEC-7DE3-D75F-BB7DA319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wentieth Century"/>
              </a:rPr>
              <a:t>Goal and Challenges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E20A3-84E1-A99B-2898-454D0BCF5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362075"/>
            <a:ext cx="2828925" cy="3263400"/>
          </a:xfrm>
        </p:spPr>
        <p:txBody>
          <a:bodyPr/>
          <a:lstStyle/>
          <a:p>
            <a:pPr marL="139700" indent="0">
              <a:buNone/>
            </a:pPr>
            <a:r>
              <a:rPr lang="en-US">
                <a:solidFill>
                  <a:srgbClr val="00B050"/>
                </a:solidFill>
              </a:rPr>
              <a:t>Goals</a:t>
            </a:r>
            <a:endParaRPr lang="en-US"/>
          </a:p>
          <a:p>
            <a:pPr>
              <a:buFont typeface="Calibri"/>
              <a:buChar char="-"/>
            </a:pPr>
            <a:r>
              <a:rPr lang="en-US" sz="1600"/>
              <a:t>Provide natural language interface to the GDC's current functionality</a:t>
            </a:r>
            <a:endParaRPr lang="en-US"/>
          </a:p>
          <a:p>
            <a:pPr>
              <a:buFont typeface="Calibri"/>
              <a:buChar char="-"/>
            </a:pPr>
            <a:r>
              <a:rPr lang="en-US" sz="1600"/>
              <a:t>Provide APIs that the community can use for their own AI models, AI tools and related needs</a:t>
            </a:r>
          </a:p>
          <a:p>
            <a:pPr>
              <a:buFont typeface="Calibri"/>
              <a:buChar char="-"/>
            </a:pPr>
            <a:r>
              <a:rPr lang="en-US" sz="1600"/>
              <a:t>Provide AI assisted data analysis of GDC data to accelerate discovery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75BB473-B85C-A707-8946-7DB4213A7E6E}"/>
              </a:ext>
            </a:extLst>
          </p:cNvPr>
          <p:cNvSpPr txBox="1">
            <a:spLocks/>
          </p:cNvSpPr>
          <p:nvPr/>
        </p:nvSpPr>
        <p:spPr>
          <a:xfrm>
            <a:off x="3302793" y="1357312"/>
            <a:ext cx="2828925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None/>
            </a:pPr>
            <a:r>
              <a:rPr lang="en-US">
                <a:solidFill>
                  <a:schemeClr val="accent1"/>
                </a:solidFill>
              </a:rPr>
              <a:t>Current Constraints</a:t>
            </a:r>
          </a:p>
          <a:p>
            <a:pPr>
              <a:buFont typeface="Calibri,Sans-Serif"/>
              <a:buChar char="-"/>
            </a:pPr>
            <a:r>
              <a:rPr lang="en-US" sz="1600"/>
              <a:t>Discoverability across 700+ clinical properties</a:t>
            </a:r>
            <a:endParaRPr lang="en-US" sz="1600">
              <a:solidFill>
                <a:srgbClr val="000000"/>
              </a:solidFill>
            </a:endParaRPr>
          </a:p>
          <a:p>
            <a:pPr>
              <a:buFont typeface="Calibri"/>
              <a:buChar char="-"/>
            </a:pPr>
            <a:r>
              <a:rPr lang="en-US" sz="1600"/>
              <a:t>Currently requires domain knowledge of both interface and data schema</a:t>
            </a:r>
            <a:endParaRPr lang="en-US"/>
          </a:p>
          <a:p>
            <a:pPr>
              <a:buFont typeface="Calibri"/>
              <a:buChar char="-"/>
            </a:pPr>
            <a:r>
              <a:rPr lang="en-US" sz="1600"/>
              <a:t>Entry barrier for users without cancer genomic knowledges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587F79D-958E-7E2A-B6F9-159CC8934CA6}"/>
              </a:ext>
            </a:extLst>
          </p:cNvPr>
          <p:cNvSpPr txBox="1">
            <a:spLocks/>
          </p:cNvSpPr>
          <p:nvPr/>
        </p:nvSpPr>
        <p:spPr>
          <a:xfrm>
            <a:off x="5924548" y="1364457"/>
            <a:ext cx="3114675" cy="376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None/>
            </a:pPr>
            <a:r>
              <a:rPr lang="en-US">
                <a:solidFill>
                  <a:srgbClr val="FF0000"/>
                </a:solidFill>
              </a:rPr>
              <a:t>Challenges</a:t>
            </a:r>
          </a:p>
          <a:p>
            <a:pPr>
              <a:buFont typeface="Calibri"/>
              <a:buChar char="-"/>
            </a:pPr>
            <a:r>
              <a:rPr lang="en-US" sz="1600"/>
              <a:t>Operate at GDC scale</a:t>
            </a:r>
          </a:p>
          <a:p>
            <a:pPr>
              <a:buFont typeface="Calibri"/>
              <a:buChar char="-"/>
            </a:pPr>
            <a:r>
              <a:rPr lang="en-US" sz="1600"/>
              <a:t>Balance pace of new AI models, frameworks &amp; tools with operating an enterprise system at scale</a:t>
            </a:r>
          </a:p>
          <a:p>
            <a:pPr>
              <a:buFont typeface="Calibri"/>
              <a:buChar char="-"/>
            </a:pPr>
            <a:r>
              <a:rPr lang="en-US" sz="1600"/>
              <a:t>Keep costs as low as possible</a:t>
            </a:r>
          </a:p>
          <a:p>
            <a:pPr>
              <a:buFont typeface="Calibri"/>
              <a:buChar char="-"/>
            </a:pPr>
            <a:r>
              <a:rPr lang="en-US" sz="1600"/>
              <a:t>Leverage on-premise and cloud computing infrastructure</a:t>
            </a:r>
          </a:p>
          <a:p>
            <a:pPr>
              <a:buFont typeface="Calibri"/>
              <a:buChar char="-"/>
            </a:pPr>
            <a:r>
              <a:rPr lang="en-US" sz="1600"/>
              <a:t>Maintain FISMA Moderate security &amp; compliance</a:t>
            </a:r>
          </a:p>
        </p:txBody>
      </p:sp>
    </p:spTree>
    <p:extLst>
      <p:ext uri="{BB962C8B-B14F-4D97-AF65-F5344CB8AC3E}">
        <p14:creationId xmlns:p14="http://schemas.microsoft.com/office/powerpoint/2010/main" val="572799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8835D-D436-BE51-1F75-E9B37E73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E8CC-7795-4D0F-883B-78F236103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wentieth Century"/>
              </a:rPr>
              <a:t>Meshes of Midscale Models Initiative (M3)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52352-BC0C-9F5F-94A6-BD491A391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375" y="4298156"/>
            <a:ext cx="7800975" cy="334463"/>
          </a:xfrm>
        </p:spPr>
        <p:txBody>
          <a:bodyPr>
            <a:noAutofit/>
          </a:bodyPr>
          <a:lstStyle/>
          <a:p>
            <a:pPr marL="139700" indent="0">
              <a:buNone/>
            </a:pPr>
            <a:r>
              <a:rPr lang="en-US" sz="1600"/>
              <a:t>https://m3initiative.uchicago.edu/</a:t>
            </a:r>
          </a:p>
        </p:txBody>
      </p:sp>
      <p:pic>
        <p:nvPicPr>
          <p:cNvPr id="8" name="Picture 7" descr="A screenshot of a website&#10;&#10;AI-generated content may be incorrect.">
            <a:extLst>
              <a:ext uri="{FF2B5EF4-FFF2-40B4-BE49-F238E27FC236}">
                <a16:creationId xmlns:a16="http://schemas.microsoft.com/office/drawing/2014/main" id="{65896EE9-4FD9-3203-169C-AE48BA0F6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75" y="1285875"/>
            <a:ext cx="4834954" cy="2778919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8F5EB55-6F5F-C1D4-425E-5F65FE617AA0}"/>
              </a:ext>
            </a:extLst>
          </p:cNvPr>
          <p:cNvSpPr txBox="1">
            <a:spLocks/>
          </p:cNvSpPr>
          <p:nvPr/>
        </p:nvSpPr>
        <p:spPr>
          <a:xfrm>
            <a:off x="5845968" y="2157414"/>
            <a:ext cx="3150393" cy="19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Calibri"/>
              <a:buChar char="-"/>
            </a:pPr>
            <a:r>
              <a:rPr lang="en-US" sz="1600" dirty="0"/>
              <a:t>M3 AI Models</a:t>
            </a:r>
            <a:endParaRPr lang="en-US" dirty="0"/>
          </a:p>
          <a:p>
            <a:pPr>
              <a:buFont typeface="Calibri"/>
              <a:buChar char="-"/>
            </a:pPr>
            <a:r>
              <a:rPr lang="en-US" sz="1600" dirty="0"/>
              <a:t>M3 Software Tools / Agents</a:t>
            </a:r>
            <a:endParaRPr lang="en-US" dirty="0"/>
          </a:p>
          <a:p>
            <a:pPr>
              <a:buFont typeface="Calibri"/>
              <a:buChar char="-"/>
            </a:pPr>
            <a:r>
              <a:rPr lang="en-US" sz="1600" dirty="0"/>
              <a:t>M3 AI Commons</a:t>
            </a:r>
            <a:endParaRPr lang="en-US" dirty="0"/>
          </a:p>
          <a:p>
            <a:pPr>
              <a:buFont typeface="Calibri"/>
              <a:buChar char="-"/>
            </a:pPr>
            <a:r>
              <a:rPr lang="en-US" sz="1600" dirty="0"/>
              <a:t>M3 Publications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05E110-BC1D-9AE7-4588-F03099CE8AE1}"/>
              </a:ext>
            </a:extLst>
          </p:cNvPr>
          <p:cNvCxnSpPr/>
          <p:nvPr/>
        </p:nvCxnSpPr>
        <p:spPr>
          <a:xfrm flipH="1" flipV="1">
            <a:off x="4418883" y="2029450"/>
            <a:ext cx="1419838" cy="9621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64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 title="m3apps.png"/>
          <p:cNvPicPr preferRelativeResize="0"/>
          <p:nvPr/>
        </p:nvPicPr>
        <p:blipFill rotWithShape="1">
          <a:blip r:embed="rId3">
            <a:alphaModFix/>
          </a:blip>
          <a:srcRect r="25562" b="7961"/>
          <a:stretch/>
        </p:blipFill>
        <p:spPr>
          <a:xfrm>
            <a:off x="378923" y="1064871"/>
            <a:ext cx="4768132" cy="267766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210625" y="73925"/>
            <a:ext cx="88314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r>
              <a:rPr lang="en" b="1" dirty="0">
                <a:latin typeface="Twentieth Century"/>
                <a:ea typeface="Twentieth Century"/>
                <a:cs typeface="Twentieth Century"/>
                <a:sym typeface="Twentieth Century"/>
              </a:rPr>
              <a:t>M3 AI</a:t>
            </a:r>
            <a:r>
              <a:rPr lang="en" b="1">
                <a:solidFill>
                  <a:srgbClr val="751E2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b="1">
                <a:latin typeface="Twentieth Century"/>
                <a:ea typeface="Twentieth Century"/>
                <a:cs typeface="Twentieth Century"/>
                <a:sym typeface="Twentieth Century"/>
              </a:rPr>
              <a:t>tools that operate over</a:t>
            </a:r>
            <a:r>
              <a:rPr lang="en" b="1">
                <a:solidFill>
                  <a:srgbClr val="751E2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b="1">
                <a:latin typeface="Twentieth Century"/>
                <a:ea typeface="Twentieth Century"/>
                <a:cs typeface="Twentieth Century"/>
                <a:sym typeface="Twentieth Century"/>
              </a:rPr>
              <a:t>GDC Data</a:t>
            </a:r>
            <a:endParaRPr lang="en-US" b="1">
              <a:solidFill>
                <a:schemeClr val="lt1"/>
              </a:solidFill>
              <a:latin typeface="Twentieth Century"/>
              <a:ea typeface="Twentieth Century"/>
              <a:cs typeface="Twentieth Centur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D7618-D97B-49D0-17DE-ED7444B24B5E}"/>
              </a:ext>
            </a:extLst>
          </p:cNvPr>
          <p:cNvSpPr txBox="1"/>
          <p:nvPr/>
        </p:nvSpPr>
        <p:spPr>
          <a:xfrm>
            <a:off x="5553120" y="1062404"/>
            <a:ext cx="359314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800" dirty="0"/>
              <a:t>The tools are in beta, but we will continue to make available to the public.</a:t>
            </a:r>
          </a:p>
          <a:p>
            <a:pPr marL="285750" indent="-285750">
              <a:buChar char="•"/>
            </a:pPr>
            <a:r>
              <a:rPr lang="en-US" sz="1800" dirty="0"/>
              <a:t>The tools / skills get better as the models we call get better and as we add more tools / skills that expose more capabilities of the GDC.</a:t>
            </a:r>
          </a:p>
          <a:p>
            <a:pPr marL="285750" indent="-285750">
              <a:buChar char="•"/>
            </a:pPr>
            <a:r>
              <a:rPr lang="en-US" sz="1800" dirty="0"/>
              <a:t>In a broad sense, we are focused on developing AI tools and models that are designed to interoperate with data commons and other sources of biomedical knowledge.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6142F42-EC2B-916B-E2B6-A674DA251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7AF92076-2EC6-90AF-E0D9-0DE725C3C1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625" y="73925"/>
            <a:ext cx="88314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r>
              <a:rPr lang="en" b="1">
                <a:solidFill>
                  <a:srgbClr val="751E2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</a:t>
            </a:r>
            <a:r>
              <a:rPr lang="en" b="1">
                <a:latin typeface="Twentieth Century"/>
                <a:ea typeface="Twentieth Century"/>
                <a:cs typeface="Twentieth Century"/>
                <a:sym typeface="Twentieth Century"/>
              </a:rPr>
              <a:t>Commons</a:t>
            </a:r>
            <a:endParaRPr lang="en-US" b="1">
              <a:solidFill>
                <a:schemeClr val="lt1"/>
              </a:solidFill>
              <a:latin typeface="Twentieth Century"/>
              <a:ea typeface="Twentieth Century"/>
              <a:cs typeface="Twentieth Century"/>
            </a:endParaRPr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E0447B78-D432-E1F7-4E4C-97FC9895D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681" y="942255"/>
            <a:ext cx="7200900" cy="35090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4D4BB7-D16F-260A-53C8-4F94D8520A07}"/>
              </a:ext>
            </a:extLst>
          </p:cNvPr>
          <p:cNvSpPr txBox="1"/>
          <p:nvPr/>
        </p:nvSpPr>
        <p:spPr>
          <a:xfrm>
            <a:off x="4360513" y="4698454"/>
            <a:ext cx="464394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Source: Robert L. Grossman, Towards AI Commons</a:t>
            </a:r>
          </a:p>
        </p:txBody>
      </p:sp>
    </p:spTree>
    <p:extLst>
      <p:ext uri="{BB962C8B-B14F-4D97-AF65-F5344CB8AC3E}">
        <p14:creationId xmlns:p14="http://schemas.microsoft.com/office/powerpoint/2010/main" val="3921008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7B6F2-FA92-D282-12B0-AAC65E4B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06472-B3B6-9E60-82FE-47AE75E71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wentieth Century"/>
              </a:rPr>
              <a:t>Two Tools: Cohort Co-Pilot and QAG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4DC26-5B10-66E7-AEC5-24057B742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069" y="1145382"/>
            <a:ext cx="4179094" cy="1563187"/>
          </a:xfrm>
        </p:spPr>
        <p:txBody>
          <a:bodyPr>
            <a:normAutofit lnSpcReduction="10000"/>
          </a:bodyPr>
          <a:lstStyle/>
          <a:p>
            <a:pPr marL="139700" indent="0">
              <a:buNone/>
            </a:pPr>
            <a:r>
              <a:rPr lang="en-US">
                <a:solidFill>
                  <a:schemeClr val="accent1"/>
                </a:solidFill>
              </a:rPr>
              <a:t>Cohort Copilot</a:t>
            </a:r>
          </a:p>
          <a:p>
            <a:pPr>
              <a:buFont typeface="Calibri"/>
              <a:buChar char="-"/>
            </a:pPr>
            <a:r>
              <a:rPr lang="en-US" sz="1400">
                <a:solidFill>
                  <a:srgbClr val="595959"/>
                </a:solidFill>
                <a:ea typeface="Source Sans Pro"/>
              </a:rPr>
              <a:t>To facilitate Cohort-Building with natural language</a:t>
            </a:r>
          </a:p>
          <a:p>
            <a:pPr>
              <a:buFont typeface="Calibri"/>
              <a:buChar char="-"/>
            </a:pPr>
            <a:r>
              <a:rPr lang="en-US" sz="1400">
                <a:solidFill>
                  <a:srgbClr val="595959"/>
                </a:solidFill>
                <a:ea typeface="Source Sans Pro"/>
              </a:rPr>
              <a:t>Published in </a:t>
            </a:r>
            <a:r>
              <a:rPr lang="en-US" sz="1400" b="1" i="1">
                <a:solidFill>
                  <a:srgbClr val="595959"/>
                </a:solidFill>
                <a:ea typeface="Source Sans Pro"/>
              </a:rPr>
              <a:t>Bioinformatics Advances</a:t>
            </a:r>
            <a:r>
              <a:rPr lang="en-US" sz="1400">
                <a:solidFill>
                  <a:srgbClr val="595959"/>
                </a:solidFill>
                <a:ea typeface="Source Sans Pro"/>
              </a:rPr>
              <a:t> https://academic.oup.com/bioinformaticsadvances/article/5/1/vbaf295/8326854</a:t>
            </a:r>
            <a:endParaRPr lang="en-US" sz="1400">
              <a:ea typeface="Source Sans Pro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FB59177-D7AE-202C-E75B-A5C28949C6B6}"/>
              </a:ext>
            </a:extLst>
          </p:cNvPr>
          <p:cNvSpPr txBox="1">
            <a:spLocks/>
          </p:cNvSpPr>
          <p:nvPr/>
        </p:nvSpPr>
        <p:spPr>
          <a:xfrm>
            <a:off x="4810125" y="1038225"/>
            <a:ext cx="3893343" cy="1556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None/>
            </a:pPr>
            <a:r>
              <a:rPr lang="en-US">
                <a:solidFill>
                  <a:schemeClr val="accent1"/>
                </a:solidFill>
              </a:rPr>
              <a:t>QAG (</a:t>
            </a:r>
            <a:r>
              <a:rPr lang="en">
                <a:solidFill>
                  <a:schemeClr val="accent1"/>
                </a:solidFill>
                <a:latin typeface="Source Sans Pro"/>
                <a:ea typeface="Source Sans Pro"/>
              </a:rPr>
              <a:t>Query augmented generation)</a:t>
            </a:r>
            <a:endParaRPr lang="en-US">
              <a:solidFill>
                <a:schemeClr val="accent1"/>
              </a:solidFill>
            </a:endParaRPr>
          </a:p>
          <a:p>
            <a:pPr marL="400050" indent="-285750">
              <a:lnSpc>
                <a:spcPct val="100000"/>
              </a:lnSpc>
              <a:spcBef>
                <a:spcPts val="0"/>
              </a:spcBef>
              <a:buFont typeface="Calibri"/>
              <a:buChar char="-"/>
            </a:pPr>
            <a:r>
              <a:rPr lang="en" sz="1400">
                <a:solidFill>
                  <a:srgbClr val="595959"/>
                </a:solidFill>
                <a:ea typeface="Source Sans Pro"/>
              </a:rPr>
              <a:t>To answer natural language questions about somatic mutation, copy number alternation, MSI and other molecular data</a:t>
            </a:r>
          </a:p>
          <a:p>
            <a:pPr marL="400050" indent="-285750">
              <a:lnSpc>
                <a:spcPct val="100000"/>
              </a:lnSpc>
              <a:spcBef>
                <a:spcPts val="0"/>
              </a:spcBef>
              <a:buFont typeface="Calibri"/>
              <a:buChar char="-"/>
            </a:pPr>
            <a:r>
              <a:rPr lang="en" sz="1400">
                <a:solidFill>
                  <a:srgbClr val="595959"/>
                </a:solidFill>
                <a:ea typeface="Source Sans Pro"/>
              </a:rPr>
              <a:t>Under review: </a:t>
            </a:r>
            <a:r>
              <a:rPr lang="en" sz="1400">
                <a:solidFill>
                  <a:srgbClr val="595959"/>
                </a:solidFill>
                <a:ea typeface="Source Sans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https://www.biorxiv.org/content/10.1101/2025.09.02.673797v1.full.pdf</a:t>
            </a:r>
            <a:endParaRPr lang="en-US" sz="1400">
              <a:solidFill>
                <a:srgbClr val="595959"/>
              </a:solidFill>
              <a:ea typeface="Source Sans Pro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FB5A89D-862C-75A6-BE62-61A895AEB27E}"/>
              </a:ext>
            </a:extLst>
          </p:cNvPr>
          <p:cNvSpPr txBox="1">
            <a:spLocks/>
          </p:cNvSpPr>
          <p:nvPr/>
        </p:nvSpPr>
        <p:spPr>
          <a:xfrm>
            <a:off x="304800" y="2707481"/>
            <a:ext cx="8479631" cy="15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ea typeface="Source Sans Pro"/>
              </a:rPr>
              <a:t>In 2025, we developed v1.  Now rolling out v2.</a:t>
            </a:r>
          </a:p>
          <a:p>
            <a:r>
              <a:rPr lang="en-US" dirty="0">
                <a:ea typeface="Source Sans Pro"/>
              </a:rPr>
              <a:t>Can either use </a:t>
            </a:r>
            <a:r>
              <a:rPr lang="en-US" dirty="0" err="1">
                <a:ea typeface="Source Sans Pro"/>
              </a:rPr>
              <a:t>i</a:t>
            </a:r>
            <a:r>
              <a:rPr lang="en-US" dirty="0">
                <a:ea typeface="Source Sans Pro"/>
              </a:rPr>
              <a:t>) our foundation models running in our systems with our GPUs, ii) our models in the cloud with cloud GPUs, or iii) third party models.  </a:t>
            </a:r>
            <a:endParaRPr lang="en-US" dirty="0"/>
          </a:p>
          <a:p>
            <a:r>
              <a:rPr lang="en-US" dirty="0">
                <a:ea typeface="Source Sans Pro"/>
              </a:rPr>
              <a:t>Ongoing iterative updates, including architectural redesign to improve functionality and robustness</a:t>
            </a:r>
            <a:endParaRPr lang="en-US"/>
          </a:p>
          <a:p>
            <a:pPr lvl="1" indent="-311150">
              <a:buFont typeface="Calibri"/>
              <a:buChar char="-"/>
            </a:pPr>
            <a:endParaRPr lang="en-US" sz="1800" dirty="0">
              <a:ea typeface="Source Sans Pro"/>
            </a:endParaRPr>
          </a:p>
          <a:p>
            <a:pPr lvl="1" indent="-311150">
              <a:buFont typeface="Calibri"/>
              <a:buChar char="-"/>
            </a:pPr>
            <a:endParaRPr lang="en-US" sz="1800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794952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5120-5C9F-D7D3-AAC6-55EA6D32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7" y="273844"/>
            <a:ext cx="7893843" cy="729882"/>
          </a:xfrm>
        </p:spPr>
        <p:txBody>
          <a:bodyPr/>
          <a:lstStyle/>
          <a:p>
            <a:r>
              <a:rPr lang="en-US" dirty="0"/>
              <a:t>The Many Variants of Agent Architectures </a:t>
            </a:r>
          </a:p>
        </p:txBody>
      </p:sp>
      <p:pic>
        <p:nvPicPr>
          <p:cNvPr id="4" name="Picture 3" descr="A diagram of software tools and memory&#10;&#10;AI-generated content may be incorrect.">
            <a:extLst>
              <a:ext uri="{FF2B5EF4-FFF2-40B4-BE49-F238E27FC236}">
                <a16:creationId xmlns:a16="http://schemas.microsoft.com/office/drawing/2014/main" id="{F2737103-2C81-E10C-737C-5A119867F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" y="1023493"/>
            <a:ext cx="7872413" cy="36108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52218C-4A8C-D99C-9DAF-485A891EFF06}"/>
              </a:ext>
            </a:extLst>
          </p:cNvPr>
          <p:cNvSpPr txBox="1"/>
          <p:nvPr/>
        </p:nvSpPr>
        <p:spPr>
          <a:xfrm>
            <a:off x="7751926" y="273557"/>
            <a:ext cx="121945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We will show you some of these we built today for the GDC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6EB111-A6FD-C58E-BEAC-6EF2564A0E75}"/>
              </a:ext>
            </a:extLst>
          </p:cNvPr>
          <p:cNvCxnSpPr/>
          <p:nvPr/>
        </p:nvCxnSpPr>
        <p:spPr>
          <a:xfrm flipH="1">
            <a:off x="7619582" y="1456361"/>
            <a:ext cx="654670" cy="67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193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0256C-82A6-520C-E46C-8F133BB9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793" y="273844"/>
            <a:ext cx="7900988" cy="644157"/>
          </a:xfrm>
        </p:spPr>
        <p:txBody>
          <a:bodyPr>
            <a:normAutofit/>
          </a:bodyPr>
          <a:lstStyle/>
          <a:p>
            <a:r>
              <a:rPr lang="en-US" dirty="0"/>
              <a:t>One Design Pattern for Tools / Agents in M3 </a:t>
            </a:r>
          </a:p>
        </p:txBody>
      </p:sp>
      <p:pic>
        <p:nvPicPr>
          <p:cNvPr id="4" name="Picture 3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10B52423-D265-32F6-6F3B-3B1890524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93" y="1072070"/>
            <a:ext cx="7300913" cy="36494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2CD25B-7AE0-8C4C-6EA5-267205816DE9}"/>
              </a:ext>
            </a:extLst>
          </p:cNvPr>
          <p:cNvSpPr txBox="1"/>
          <p:nvPr/>
        </p:nvSpPr>
        <p:spPr>
          <a:xfrm>
            <a:off x="6956504" y="2149410"/>
            <a:ext cx="15604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(or other apps)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33526-FE51-94E7-AEF3-C5E62B825E64}"/>
              </a:ext>
            </a:extLst>
          </p:cNvPr>
          <p:cNvSpPr txBox="1"/>
          <p:nvPr/>
        </p:nvSpPr>
        <p:spPr>
          <a:xfrm>
            <a:off x="5613480" y="4035360"/>
            <a:ext cx="15604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(or other apps)</a:t>
            </a:r>
          </a:p>
        </p:txBody>
      </p:sp>
    </p:spTree>
    <p:extLst>
      <p:ext uri="{BB962C8B-B14F-4D97-AF65-F5344CB8AC3E}">
        <p14:creationId xmlns:p14="http://schemas.microsoft.com/office/powerpoint/2010/main" val="2533669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4852-5EA7-DA99-4335-BD537423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219" y="273844"/>
            <a:ext cx="7908131" cy="722738"/>
          </a:xfrm>
        </p:spPr>
        <p:txBody>
          <a:bodyPr>
            <a:normAutofit/>
          </a:bodyPr>
          <a:lstStyle/>
          <a:p>
            <a:r>
              <a:rPr lang="en-US" dirty="0"/>
              <a:t>Agentic Design Pattern We Will be </a:t>
            </a:r>
            <a:r>
              <a:rPr lang="en-US" dirty="0" err="1"/>
              <a:t>UsingToday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075D5075-41FB-F150-67AD-D4A582789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1107789"/>
            <a:ext cx="7136607" cy="357086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1E31F5A-4B83-F6B2-0DCE-591860908BB0}"/>
              </a:ext>
            </a:extLst>
          </p:cNvPr>
          <p:cNvSpPr/>
          <p:nvPr/>
        </p:nvSpPr>
        <p:spPr>
          <a:xfrm>
            <a:off x="4771587" y="2168047"/>
            <a:ext cx="1742763" cy="144995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4C481-8240-AFD0-CC68-96B2269B5003}"/>
              </a:ext>
            </a:extLst>
          </p:cNvPr>
          <p:cNvSpPr txBox="1"/>
          <p:nvPr/>
        </p:nvSpPr>
        <p:spPr>
          <a:xfrm>
            <a:off x="7096780" y="1110356"/>
            <a:ext cx="168969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Demos below use different sets of tools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512054-FB02-EE41-5484-0DC7368581EC}"/>
              </a:ext>
            </a:extLst>
          </p:cNvPr>
          <p:cNvCxnSpPr/>
          <p:nvPr/>
        </p:nvCxnSpPr>
        <p:spPr>
          <a:xfrm flipH="1">
            <a:off x="6390857" y="1706392"/>
            <a:ext cx="654670" cy="67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340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AEDC0-A0F1-38E1-D12C-5F721ECB3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20049-BAF3-B402-9E3C-E75A587DE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/>
              <a:t>2. Query Augmented Generation </a:t>
            </a:r>
            <a:r>
              <a:rPr lang="en-US" dirty="0"/>
              <a:t>(QAG) </a:t>
            </a:r>
            <a:r>
              <a:rPr lang="en-US"/>
              <a:t>Tool</a:t>
            </a:r>
          </a:p>
        </p:txBody>
      </p:sp>
    </p:spTree>
    <p:extLst>
      <p:ext uri="{BB962C8B-B14F-4D97-AF65-F5344CB8AC3E}">
        <p14:creationId xmlns:p14="http://schemas.microsoft.com/office/powerpoint/2010/main" val="3151772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457950" y="4950079"/>
            <a:ext cx="2589000" cy="1911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1">
                <a:solidFill>
                  <a:srgbClr val="7585C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12</a:t>
            </a:fld>
            <a:endParaRPr sz="900" b="1">
              <a:solidFill>
                <a:srgbClr val="7585C5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80" name="Google Shape;80;p17" title="cdkn2a-tcga-lus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25" y="1606225"/>
            <a:ext cx="4380801" cy="21468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15575"/>
            <a:ext cx="8501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42A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Asked GPT-4o (ChatGPT) a simple cancer genomics query about CDKN2A deletion</a:t>
            </a:r>
            <a:endParaRPr sz="1500" b="1" i="1">
              <a:solidFill>
                <a:srgbClr val="042A5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i="1">
              <a:solidFill>
                <a:srgbClr val="042A5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1">
                <a:solidFill>
                  <a:srgbClr val="042A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Note: Frequency in the GDC is 22.51%</a:t>
            </a:r>
            <a:endParaRPr sz="1300" b="1" i="1">
              <a:solidFill>
                <a:srgbClr val="042A5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82" name="Google Shape;82;p17" title="vidotto-et-al-20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2775" y="1240225"/>
            <a:ext cx="3534776" cy="12849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3" name="Google Shape;83;p17" title="tabl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0661" y="1954976"/>
            <a:ext cx="3595980" cy="309973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6107325" y="4891287"/>
            <a:ext cx="305700" cy="199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11700" y="-27593"/>
            <a:ext cx="7288782" cy="86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b="1">
                <a:solidFill>
                  <a:srgbClr val="751E2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Query Augmented Generation (QAG) </a:t>
            </a:r>
            <a:endParaRPr sz="2400" b="1">
              <a:solidFill>
                <a:srgbClr val="751E2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751E2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LLMs struggle with factual or numeric queries</a:t>
            </a:r>
            <a:endParaRPr sz="2400" b="1">
              <a:solidFill>
                <a:srgbClr val="751E2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1A24-C76C-7F4D-D43E-5BA067DC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38150"/>
            <a:ext cx="7886700" cy="994200"/>
          </a:xfrm>
        </p:spPr>
        <p:txBody>
          <a:bodyPr>
            <a:normAutofit fontScale="90000"/>
          </a:bodyPr>
          <a:lstStyle/>
          <a:p>
            <a:r>
              <a:rPr lang="en" sz="2400" b="1"/>
              <a:t>GDC-QAG demo</a:t>
            </a:r>
            <a:br>
              <a:rPr lang="en" sz="2400" b="1"/>
            </a:br>
            <a:br>
              <a:rPr lang="en" sz="2400" b="1"/>
            </a:br>
            <a:r>
              <a:rPr lang="en" sz="2400" b="1"/>
              <a:t>Tool is particularly useful for queries requiring multiple API calls that are time consuming in portal</a:t>
            </a:r>
            <a:endParaRPr lang="en-US" sz="2400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AFB33-A39D-F753-973D-378485C94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12106"/>
            <a:ext cx="7886700" cy="326340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https://qag.m3aicommons.org</a:t>
            </a:r>
            <a:endParaRPr lang="en-US"/>
          </a:p>
          <a:p>
            <a:r>
              <a:rPr lang="en-US"/>
              <a:t>Side-by-side comparison in portal</a:t>
            </a:r>
          </a:p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13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51AF-707C-3532-14EE-FED01DE7A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66C00-E0D4-1D6D-1C92-256638CD9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5856"/>
            <a:ext cx="7764548" cy="601567"/>
          </a:xfrm>
        </p:spPr>
        <p:txBody>
          <a:bodyPr>
            <a:normAutofit/>
          </a:bodyPr>
          <a:lstStyle/>
          <a:p>
            <a:r>
              <a:rPr lang="en" sz="2400" b="1" dirty="0"/>
              <a:t>GDC-QAG Architecture v2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FC24D6-E72A-7F6F-3A9E-B952FA46A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01" y="748541"/>
            <a:ext cx="7795959" cy="382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12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1B1AB-31F8-E3F2-0694-ABACAD155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E1723-0258-1988-A083-E134AFEB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3. GDC Cohort Copilot Tool</a:t>
            </a:r>
          </a:p>
        </p:txBody>
      </p:sp>
    </p:spTree>
    <p:extLst>
      <p:ext uri="{BB962C8B-B14F-4D97-AF65-F5344CB8AC3E}">
        <p14:creationId xmlns:p14="http://schemas.microsoft.com/office/powerpoint/2010/main" val="3800272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 title="cohort-buil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73" y="897599"/>
            <a:ext cx="4872274" cy="2112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 txBox="1"/>
          <p:nvPr/>
        </p:nvSpPr>
        <p:spPr>
          <a:xfrm>
            <a:off x="99425" y="3199980"/>
            <a:ext cx="86688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Char char="•"/>
            </a:pPr>
            <a:r>
              <a:rPr lang="en" sz="1800">
                <a:solidFill>
                  <a:srgbClr val="042A56"/>
                </a:solidFill>
                <a:ea typeface="Source Sans Pro"/>
              </a:rPr>
              <a:t>2 demos on Cohort Builder </a:t>
            </a:r>
            <a:endParaRPr lang="en-US" sz="1800">
              <a:solidFill>
                <a:srgbClr val="042A56"/>
              </a:solidFill>
              <a:ea typeface="Source Sans Pro"/>
            </a:endParaRPr>
          </a:p>
          <a:p>
            <a:pPr marL="742950" lvl="1" indent="-285750">
              <a:buChar char="•"/>
            </a:pPr>
            <a:r>
              <a:rPr lang="en" sz="1800">
                <a:solidFill>
                  <a:srgbClr val="042A56"/>
                </a:solidFill>
                <a:ea typeface="Source Sans Pro"/>
                <a:sym typeface="Source Sans Pro"/>
              </a:rPr>
              <a:t>New users could benefit from curation of GDC cohorts using natural language </a:t>
            </a:r>
            <a:endParaRPr lang="en-US" sz="1800">
              <a:solidFill>
                <a:srgbClr val="042A56"/>
              </a:solidFill>
              <a:ea typeface="Source Sans Pro"/>
            </a:endParaRPr>
          </a:p>
        </p:txBody>
      </p:sp>
      <p:pic>
        <p:nvPicPr>
          <p:cNvPr id="146" name="Google Shape;146;p25" title="copilot-custom-filters.png"/>
          <p:cNvPicPr preferRelativeResize="0"/>
          <p:nvPr/>
        </p:nvPicPr>
        <p:blipFill rotWithShape="1">
          <a:blip r:embed="rId4">
            <a:alphaModFix/>
          </a:blip>
          <a:srcRect t="5069"/>
          <a:stretch/>
        </p:blipFill>
        <p:spPr>
          <a:xfrm>
            <a:off x="4988525" y="885874"/>
            <a:ext cx="4120602" cy="215822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/>
        </p:nvSpPr>
        <p:spPr>
          <a:xfrm>
            <a:off x="311700" y="45430"/>
            <a:ext cx="73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>
                <a:solidFill>
                  <a:srgbClr val="751E22"/>
                </a:solidFill>
                <a:latin typeface="Twentieth Century"/>
                <a:sym typeface="Twentieth Century"/>
              </a:rPr>
              <a:t>Building Cohorts Via Cohort Builder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  <a:latin typeface="Twentieth Century"/>
              <a:ea typeface="Source Sans Pro"/>
              <a:cs typeface="Source Sans Pr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304C1-1521-72A2-3196-32467A8F3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169194"/>
            <a:ext cx="6386513" cy="37732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000000"/>
                </a:solidFill>
              </a:rPr>
              <a:t>GDC cohort filters are described in JSON</a:t>
            </a:r>
            <a:endParaRPr lang="en-US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Calibri,Sans-Serif"/>
              <a:buChar char="-"/>
            </a:pPr>
            <a:endParaRPr lang="en-US" sz="160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71D189A-FF6B-1C34-5F88-441FC2CCD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1540668"/>
            <a:ext cx="3538537" cy="3019425"/>
          </a:xfrm>
          <a:prstGeom prst="rect">
            <a:avLst/>
          </a:prstGeom>
        </p:spPr>
      </p:pic>
      <p:sp>
        <p:nvSpPr>
          <p:cNvPr id="8" name="Google Shape;152;p26">
            <a:extLst>
              <a:ext uri="{FF2B5EF4-FFF2-40B4-BE49-F238E27FC236}">
                <a16:creationId xmlns:a16="http://schemas.microsoft.com/office/drawing/2014/main" id="{ED4CB273-A008-2A42-9A3D-623C293F5697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1E22"/>
              </a:buClr>
              <a:buSzPts val="3300"/>
              <a:buFont typeface="Twentieth Century"/>
              <a:buNone/>
              <a:defRPr sz="2800" b="0" i="0" u="none" strike="noStrike" cap="none">
                <a:solidFill>
                  <a:srgbClr val="751E2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latin typeface="Twentieth Century"/>
                <a:sym typeface="Twentieth Century"/>
              </a:rPr>
              <a:t>Cohort Filters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81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81E42CE-423D-AA32-9647-1A973294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52988C-D119-BFB1-1D7C-6721D9E1D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675056"/>
            <a:ext cx="7400925" cy="3636226"/>
          </a:xfrm>
          <a:prstGeom prst="rect">
            <a:avLst/>
          </a:prstGeom>
        </p:spPr>
      </p:pic>
      <p:sp>
        <p:nvSpPr>
          <p:cNvPr id="158" name="Google Shape;158;p27">
            <a:extLst>
              <a:ext uri="{FF2B5EF4-FFF2-40B4-BE49-F238E27FC236}">
                <a16:creationId xmlns:a16="http://schemas.microsoft.com/office/drawing/2014/main" id="{0BD95F12-1582-0001-42D5-5C175B8FAC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550" y="6819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r>
              <a:rPr lang="en" sz="2400" b="1">
                <a:latin typeface="Twentieth Century"/>
                <a:ea typeface="Twentieth Century"/>
                <a:cs typeface="Twentieth Century"/>
              </a:rPr>
              <a:t>Cohort Copilot Demo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F232C7-F3F2-4F25-6DC9-350A873C1032}"/>
              </a:ext>
            </a:extLst>
          </p:cNvPr>
          <p:cNvSpPr/>
          <p:nvPr/>
        </p:nvSpPr>
        <p:spPr>
          <a:xfrm>
            <a:off x="376462" y="1241801"/>
            <a:ext cx="365760" cy="365761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ea typeface="Calibri"/>
                <a:cs typeface="Calibri"/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ABCD42-8B8E-0E41-27FB-C805F0689F66}"/>
              </a:ext>
            </a:extLst>
          </p:cNvPr>
          <p:cNvSpPr/>
          <p:nvPr/>
        </p:nvSpPr>
        <p:spPr>
          <a:xfrm>
            <a:off x="3712052" y="1999847"/>
            <a:ext cx="365760" cy="365761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ea typeface="Calibri"/>
                <a:cs typeface="Calibri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F4764F-F014-FC9D-7A4D-9E30C9411A2B}"/>
              </a:ext>
            </a:extLst>
          </p:cNvPr>
          <p:cNvSpPr/>
          <p:nvPr/>
        </p:nvSpPr>
        <p:spPr>
          <a:xfrm>
            <a:off x="7748001" y="1206081"/>
            <a:ext cx="365760" cy="365761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a typeface="Calibri"/>
                <a:cs typeface="Calibri"/>
              </a:rPr>
              <a:t>4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502DF9-DFFE-C044-6CD1-D8D32E5B3B21}"/>
              </a:ext>
            </a:extLst>
          </p:cNvPr>
          <p:cNvSpPr/>
          <p:nvPr/>
        </p:nvSpPr>
        <p:spPr>
          <a:xfrm>
            <a:off x="1956442" y="3748044"/>
            <a:ext cx="365760" cy="365761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C37746-DB59-5814-43CF-0C3B8B484B03}"/>
              </a:ext>
            </a:extLst>
          </p:cNvPr>
          <p:cNvSpPr/>
          <p:nvPr/>
        </p:nvSpPr>
        <p:spPr>
          <a:xfrm>
            <a:off x="7748001" y="677441"/>
            <a:ext cx="365760" cy="365761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81857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E835FDF8-FFFD-E670-FD0E-85DD6CFC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>
            <a:extLst>
              <a:ext uri="{FF2B5EF4-FFF2-40B4-BE49-F238E27FC236}">
                <a16:creationId xmlns:a16="http://schemas.microsoft.com/office/drawing/2014/main" id="{2D2552E2-71DF-F6E1-4622-AC30669631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550" y="6819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r>
              <a:rPr lang="en" sz="2400" b="1">
                <a:latin typeface="Twentieth Century"/>
                <a:ea typeface="Twentieth Century"/>
                <a:cs typeface="Twentieth Century"/>
              </a:rPr>
              <a:t>Cohort Copilot Interactive Mode Demo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EE2FDD-6748-35D5-99F9-2E001CEDB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1" y="930971"/>
            <a:ext cx="7215188" cy="327441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72155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67B5E-C755-C370-16D4-60B98846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9A983-C5FA-CA1B-16BD-F26F6E6FB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99" y="273844"/>
            <a:ext cx="7973951" cy="492502"/>
          </a:xfrm>
        </p:spPr>
        <p:txBody>
          <a:bodyPr/>
          <a:lstStyle/>
          <a:p>
            <a:r>
              <a:rPr lang="en-US" dirty="0"/>
              <a:t>GDC Cohort CoPilot v2 Arch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609443-D13E-632C-4A32-76D9AB6A4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34" y="839800"/>
            <a:ext cx="7516752" cy="376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1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0EFA-7556-9558-964F-4B0D614C1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410BD-C0FD-69C2-2275-7456052EF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4. An Additional Demo</a:t>
            </a:r>
          </a:p>
        </p:txBody>
      </p:sp>
    </p:spTree>
    <p:extLst>
      <p:ext uri="{BB962C8B-B14F-4D97-AF65-F5344CB8AC3E}">
        <p14:creationId xmlns:p14="http://schemas.microsoft.com/office/powerpoint/2010/main" val="1570271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02C9-688A-7FC7-B050-85CCBF0C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A2DD7-E1F9-2A72-49A6-FB434D80D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5. Roadmap</a:t>
            </a:r>
          </a:p>
        </p:txBody>
      </p:sp>
    </p:spTree>
    <p:extLst>
      <p:ext uri="{BB962C8B-B14F-4D97-AF65-F5344CB8AC3E}">
        <p14:creationId xmlns:p14="http://schemas.microsoft.com/office/powerpoint/2010/main" val="746315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B5AB0A0C-6DED-2DD0-DFC9-0ABB483C1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>
            <a:extLst>
              <a:ext uri="{FF2B5EF4-FFF2-40B4-BE49-F238E27FC236}">
                <a16:creationId xmlns:a16="http://schemas.microsoft.com/office/drawing/2014/main" id="{184D0AEF-B9CC-A82B-6888-A238EE5FBF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Twentieth Century"/>
                <a:ea typeface="Twentieth Century"/>
                <a:cs typeface="Twentieth Century"/>
                <a:sym typeface="Twentieth Century"/>
              </a:rPr>
              <a:t>AI tools next steps</a:t>
            </a:r>
            <a:endParaRPr sz="2400" b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4" name="Google Shape;174;p29">
            <a:extLst>
              <a:ext uri="{FF2B5EF4-FFF2-40B4-BE49-F238E27FC236}">
                <a16:creationId xmlns:a16="http://schemas.microsoft.com/office/drawing/2014/main" id="{ECA25095-32E3-AF3A-D376-24D79E8B6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650" y="1019175"/>
            <a:ext cx="7886700" cy="3520575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>
              <a:lnSpc>
                <a:spcPct val="150000"/>
              </a:lnSpc>
              <a:buClr>
                <a:srgbClr val="042A56"/>
              </a:buClr>
              <a:buFont typeface="Source Sans Pro"/>
              <a:buChar char="•"/>
            </a:pPr>
            <a:r>
              <a:rPr lang="en" dirty="0">
                <a:solidFill>
                  <a:srgbClr val="042A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These tools are deployed on M3 commons today</a:t>
            </a:r>
            <a:endParaRPr lang="en-US" dirty="0">
              <a:solidFill>
                <a:srgbClr val="042A56"/>
              </a:solidFill>
              <a:latin typeface="Source Sans Pro"/>
              <a:ea typeface="Source Sans Pro"/>
              <a:cs typeface="Source Sans Pro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42A56"/>
              </a:buClr>
              <a:buFont typeface="Source Sans Pro"/>
              <a:buChar char="•"/>
            </a:pPr>
            <a:r>
              <a:rPr lang="en" dirty="0">
                <a:solidFill>
                  <a:srgbClr val="042A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 are conduct more extensive testing on real user queries</a:t>
            </a:r>
            <a:endParaRPr dirty="0">
              <a:solidFill>
                <a:srgbClr val="042A56"/>
              </a:solidFill>
              <a:latin typeface="Source Sans Pro"/>
              <a:ea typeface="Source Sans Pro"/>
              <a:cs typeface="Source Sans Pro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42A56"/>
              </a:buClr>
              <a:buFont typeface="Source Sans Pro"/>
              <a:buChar char="•"/>
            </a:pPr>
            <a:r>
              <a:rPr lang="en" dirty="0">
                <a:solidFill>
                  <a:srgbClr val="042A56"/>
                </a:solidFill>
                <a:latin typeface="Source Sans Pro"/>
                <a:ea typeface="Source Sans Pro"/>
                <a:cs typeface="Source Sans Pro"/>
              </a:rPr>
              <a:t>We are improving and moving apps to production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2A56"/>
              </a:buClr>
              <a:buSzPts val="1400"/>
              <a:buFont typeface="Source Sans Pro"/>
              <a:buChar char="•"/>
            </a:pPr>
            <a:r>
              <a:rPr lang="en" dirty="0">
                <a:solidFill>
                  <a:srgbClr val="042A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GDC-QAG</a:t>
            </a:r>
            <a:endParaRPr dirty="0">
              <a:solidFill>
                <a:srgbClr val="042A56"/>
              </a:solidFill>
              <a:latin typeface="Source Sans Pro"/>
              <a:ea typeface="Source Sans Pro"/>
              <a:cs typeface="Source Sans Pro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042A56"/>
              </a:buClr>
              <a:buFont typeface="Source Sans Pro"/>
              <a:buChar char="•"/>
            </a:pPr>
            <a:r>
              <a:rPr lang="en" dirty="0">
                <a:solidFill>
                  <a:srgbClr val="042A56"/>
                </a:solidFill>
                <a:latin typeface="Source Sans Pro"/>
                <a:ea typeface="Source Sans Pro"/>
                <a:cs typeface="Source Sans Pro"/>
              </a:rPr>
              <a:t>Add more supported queries, like DNA methylation, gene expression, survival analysis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042A56"/>
              </a:buClr>
              <a:buFont typeface="Source Sans Pro"/>
              <a:buChar char="•"/>
            </a:pPr>
            <a:r>
              <a:rPr lang="en" dirty="0">
                <a:solidFill>
                  <a:srgbClr val="042A56"/>
                </a:solidFill>
                <a:latin typeface="Source Sans Pro"/>
                <a:ea typeface="Source Sans Pro"/>
                <a:cs typeface="Source Sans Pro"/>
              </a:rPr>
              <a:t>Support arbitrary cohort analysis by integrating GDC Cohort Copilot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42A56"/>
              </a:buClr>
              <a:buFont typeface="Source Sans Pro"/>
              <a:buChar char="•"/>
            </a:pPr>
            <a:r>
              <a:rPr lang="en" dirty="0">
                <a:solidFill>
                  <a:srgbClr val="042A56"/>
                </a:solidFill>
                <a:latin typeface="Source Sans Pro"/>
                <a:ea typeface="Source Sans Pro"/>
                <a:cs typeface="Source Sans Pro"/>
              </a:rPr>
              <a:t>GDC</a:t>
            </a:r>
            <a:r>
              <a:rPr lang="en" dirty="0">
                <a:solidFill>
                  <a:srgbClr val="042A5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Cohort Copilot</a:t>
            </a:r>
            <a:endParaRPr dirty="0">
              <a:solidFill>
                <a:srgbClr val="042A56"/>
              </a:solidFill>
              <a:latin typeface="Source Sans Pro"/>
              <a:ea typeface="Source Sans Pro"/>
              <a:cs typeface="Source Sans Pro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042A56"/>
              </a:buClr>
              <a:buFont typeface="Source Sans Pro"/>
              <a:buChar char="•"/>
            </a:pPr>
            <a:r>
              <a:rPr lang="en" dirty="0">
                <a:solidFill>
                  <a:srgbClr val="042A56"/>
                </a:solidFill>
                <a:latin typeface="Source Sans Pro"/>
                <a:ea typeface="Source Sans Pro"/>
                <a:cs typeface="Source Sans Pro"/>
              </a:rPr>
              <a:t>Expand to entire set of ~700 GDC filters</a:t>
            </a:r>
          </a:p>
        </p:txBody>
      </p:sp>
    </p:spTree>
    <p:extLst>
      <p:ext uri="{BB962C8B-B14F-4D97-AF65-F5344CB8AC3E}">
        <p14:creationId xmlns:p14="http://schemas.microsoft.com/office/powerpoint/2010/main" val="358006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B3700-938E-E717-AE00-1F20EA473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4534-C23C-2527-24F0-1E3048DC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76907077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AA57F805DE4D498A43031B16C0C8A1" ma:contentTypeVersion="19" ma:contentTypeDescription="Create a new document." ma:contentTypeScope="" ma:versionID="8d169cae7b697a38c1f2a3ff7bc83911">
  <xsd:schema xmlns:xsd="http://www.w3.org/2001/XMLSchema" xmlns:xs="http://www.w3.org/2001/XMLSchema" xmlns:p="http://schemas.microsoft.com/office/2006/metadata/properties" xmlns:ns2="00850a8a-55a0-4f29-bb56-d3de9b9bc75c" xmlns:ns3="33e70369-3675-4c3b-99e1-030eb9633bdf" targetNamespace="http://schemas.microsoft.com/office/2006/metadata/properties" ma:root="true" ma:fieldsID="3d7b88af5274db58a2019a9f8258b200" ns2:_="" ns3:_="">
    <xsd:import namespace="00850a8a-55a0-4f29-bb56-d3de9b9bc75c"/>
    <xsd:import namespace="33e70369-3675-4c3b-99e1-030eb9633b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850a8a-55a0-4f29-bb56-d3de9b9bc7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8ce9f98e-9ad5-43de-b59a-72d7e946aa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e70369-3675-4c3b-99e1-030eb9633b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b5c1b8-c26e-40e2-8d84-2ad1b1e5c9db}" ma:internalName="TaxCatchAll" ma:showField="CatchAllData" ma:web="33e70369-3675-4c3b-99e1-030eb9633b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0850a8a-55a0-4f29-bb56-d3de9b9bc75c">
      <Terms xmlns="http://schemas.microsoft.com/office/infopath/2007/PartnerControls"/>
    </lcf76f155ced4ddcb4097134ff3c332f>
    <TaxCatchAll xmlns="33e70369-3675-4c3b-99e1-030eb9633bdf" xsi:nil="true"/>
  </documentManagement>
</p:properties>
</file>

<file path=customXml/itemProps1.xml><?xml version="1.0" encoding="utf-8"?>
<ds:datastoreItem xmlns:ds="http://schemas.openxmlformats.org/officeDocument/2006/customXml" ds:itemID="{FD008441-2A4A-464C-8328-3D72BDF3D0B0}"/>
</file>

<file path=customXml/itemProps2.xml><?xml version="1.0" encoding="utf-8"?>
<ds:datastoreItem xmlns:ds="http://schemas.openxmlformats.org/officeDocument/2006/customXml" ds:itemID="{280837C8-CCF0-4E54-89A8-731041FAE034}"/>
</file>

<file path=customXml/itemProps3.xml><?xml version="1.0" encoding="utf-8"?>
<ds:datastoreItem xmlns:ds="http://schemas.openxmlformats.org/officeDocument/2006/customXml" ds:itemID="{A8E536BC-4FDE-48A0-BDFA-CF29780D30EB}"/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Microsoft Office PowerPoint</Application>
  <PresentationFormat>On-screen Show (16:9)</PresentationFormat>
  <Paragraphs>83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Calibri,Sans-Serif</vt:lpstr>
      <vt:lpstr>Source Sans Pro</vt:lpstr>
      <vt:lpstr>Twentieth Century</vt:lpstr>
      <vt:lpstr>Simple Light</vt:lpstr>
      <vt:lpstr>AI tools that operate over the  Genomic Data Commons</vt:lpstr>
      <vt:lpstr>Introduction</vt:lpstr>
      <vt:lpstr>Goal and Challenges</vt:lpstr>
      <vt:lpstr>Meshes of Midscale Models Initiative (M3)</vt:lpstr>
      <vt:lpstr>M3 AI tools that operate over GDC Data</vt:lpstr>
      <vt:lpstr>AI Commons</vt:lpstr>
      <vt:lpstr>Two Tools: Cohort Co-Pilot and QAG</vt:lpstr>
      <vt:lpstr>The Many Variants of Agent Architectures </vt:lpstr>
      <vt:lpstr>One Design Pattern for Tools / Agents in M3 </vt:lpstr>
      <vt:lpstr>Agentic Design Pattern We Will be UsingToday</vt:lpstr>
      <vt:lpstr>2. Query Augmented Generation (QAG) Tool</vt:lpstr>
      <vt:lpstr>PowerPoint Presentation</vt:lpstr>
      <vt:lpstr>GDC-QAG demo  Tool is particularly useful for queries requiring multiple API calls that are time consuming in portal </vt:lpstr>
      <vt:lpstr>GDC-QAG Architecture v2</vt:lpstr>
      <vt:lpstr>3. GDC Cohort Copilot Tool</vt:lpstr>
      <vt:lpstr>PowerPoint Presentation</vt:lpstr>
      <vt:lpstr>PowerPoint Presentation</vt:lpstr>
      <vt:lpstr>Cohort Copilot Demo</vt:lpstr>
      <vt:lpstr>Cohort Copilot Interactive Mode Demo</vt:lpstr>
      <vt:lpstr>GDC Cohort CoPilot v2 Arch</vt:lpstr>
      <vt:lpstr>4. An Additional Demo</vt:lpstr>
      <vt:lpstr>5. Roadmap</vt:lpstr>
      <vt:lpstr>AI tools next steps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154</cp:revision>
  <dcterms:modified xsi:type="dcterms:W3CDTF">2026-03-23T18:59:43Z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0x0101002BAA57F805DE4D498A43031B16C0C8A1</vt:lpwstr>
  </property>
</Properties>
</file>